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77" userDrawn="1">
          <p15:clr>
            <a:srgbClr val="A4A3A4"/>
          </p15:clr>
        </p15:guide>
        <p15:guide id="2" pos="21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877"/>
        <p:guide pos="216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SMART</a:t>
            </a:r>
            <a:r>
              <a:rPr spc="5" dirty="0"/>
              <a:t> </a:t>
            </a:r>
            <a:r>
              <a:rPr dirty="0"/>
              <a:t>INDIA</a:t>
            </a:r>
            <a:r>
              <a:rPr spc="55" dirty="0"/>
              <a:t> </a:t>
            </a:r>
            <a:r>
              <a:rPr spc="-25" dirty="0"/>
              <a:t>HACKATHON-</a:t>
            </a:r>
            <a:r>
              <a:rPr spc="-20" dirty="0"/>
              <a:t>2026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SMART</a:t>
            </a:r>
            <a:r>
              <a:rPr spc="5" dirty="0"/>
              <a:t> </a:t>
            </a:r>
            <a:r>
              <a:rPr dirty="0"/>
              <a:t>INDIA</a:t>
            </a:r>
            <a:r>
              <a:rPr spc="55" dirty="0"/>
              <a:t> </a:t>
            </a:r>
            <a:r>
              <a:rPr spc="-25" dirty="0"/>
              <a:t>HACKATHON-</a:t>
            </a:r>
            <a:r>
              <a:rPr spc="-20" dirty="0"/>
              <a:t>2026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SMART</a:t>
            </a:r>
            <a:r>
              <a:rPr spc="5" dirty="0"/>
              <a:t> </a:t>
            </a:r>
            <a:r>
              <a:rPr dirty="0"/>
              <a:t>INDIA</a:t>
            </a:r>
            <a:r>
              <a:rPr spc="55" dirty="0"/>
              <a:t> </a:t>
            </a:r>
            <a:r>
              <a:rPr spc="-25" dirty="0"/>
              <a:t>HACKATHON-</a:t>
            </a:r>
            <a:r>
              <a:rPr spc="-20" dirty="0"/>
              <a:t>2026</a:t>
            </a:r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SMART</a:t>
            </a:r>
            <a:r>
              <a:rPr spc="5" dirty="0"/>
              <a:t> </a:t>
            </a:r>
            <a:r>
              <a:rPr dirty="0"/>
              <a:t>INDIA</a:t>
            </a:r>
            <a:r>
              <a:rPr spc="55" dirty="0"/>
              <a:t> </a:t>
            </a:r>
            <a:r>
              <a:rPr spc="-25" dirty="0"/>
              <a:t>HACKATHON-</a:t>
            </a:r>
            <a:r>
              <a:rPr spc="-20" dirty="0"/>
              <a:t>2026</a:t>
            </a:r>
            <a:endParaRPr spc="-2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SMART</a:t>
            </a:r>
            <a:r>
              <a:rPr spc="5" dirty="0"/>
              <a:t> </a:t>
            </a:r>
            <a:r>
              <a:rPr dirty="0"/>
              <a:t>INDIA</a:t>
            </a:r>
            <a:r>
              <a:rPr spc="55" dirty="0"/>
              <a:t> </a:t>
            </a:r>
            <a:r>
              <a:rPr spc="-25" dirty="0"/>
              <a:t>HACKATHON-</a:t>
            </a:r>
            <a:r>
              <a:rPr spc="-20" dirty="0"/>
              <a:t>2026</a:t>
            </a:r>
            <a:endParaRPr spc="-2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6372133"/>
            <a:ext cx="12187301" cy="481104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6353175"/>
            <a:ext cx="12192000" cy="504825"/>
          </a:xfrm>
          <a:custGeom>
            <a:avLst/>
            <a:gdLst/>
            <a:ahLst/>
            <a:cxnLst/>
            <a:rect l="l" t="t" r="r" b="b"/>
            <a:pathLst>
              <a:path w="12192000" h="504825">
                <a:moveTo>
                  <a:pt x="12192000" y="0"/>
                </a:moveTo>
                <a:lnTo>
                  <a:pt x="0" y="0"/>
                </a:lnTo>
                <a:lnTo>
                  <a:pt x="0" y="504825"/>
                </a:lnTo>
                <a:lnTo>
                  <a:pt x="12192000" y="504825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70660" y="156210"/>
            <a:ext cx="8103234" cy="9537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5290" y="2007552"/>
            <a:ext cx="6824345" cy="4417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232146" y="6441747"/>
            <a:ext cx="2049779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SMART</a:t>
            </a:r>
            <a:r>
              <a:rPr spc="5" dirty="0"/>
              <a:t> </a:t>
            </a:r>
            <a:r>
              <a:rPr dirty="0"/>
              <a:t>INDIA</a:t>
            </a:r>
            <a:r>
              <a:rPr spc="55" dirty="0"/>
              <a:t> </a:t>
            </a:r>
            <a:r>
              <a:rPr spc="-25" dirty="0"/>
              <a:t>HACKATHON-</a:t>
            </a:r>
            <a:r>
              <a:rPr spc="-20" dirty="0"/>
              <a:t>2026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82629" y="6441747"/>
            <a:ext cx="166370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hyperlink" Target="https://arxiv.org/abs/1603.02754?utm_source=chatgpt.com" TargetMode="External"/><Relationship Id="rId5" Type="http://schemas.openxmlformats.org/officeDocument/2006/relationships/hyperlink" Target="https://www.mha.gov.in/en/division_of_mha/cyber-and-information-security-cis-division/Details-about-Indian-Cybercrime-Coordination-Centre-I4C-Scheme?utm_source=chatgpt.com" TargetMode="External"/><Relationship Id="rId4" Type="http://schemas.openxmlformats.org/officeDocument/2006/relationships/hyperlink" Target="https://www.cybercrime.gov.in/?utm_source=chatgpt.com" TargetMode="External"/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029418" y="304800"/>
            <a:ext cx="4819682" cy="5910580"/>
            <a:chOff x="6115018" y="190500"/>
            <a:chExt cx="4819682" cy="5910580"/>
          </a:xfrm>
        </p:grpSpPr>
        <p:sp>
          <p:nvSpPr>
            <p:cNvPr id="3" name="object 3"/>
            <p:cNvSpPr/>
            <p:nvPr/>
          </p:nvSpPr>
          <p:spPr>
            <a:xfrm>
              <a:off x="6115018" y="1907540"/>
              <a:ext cx="4638675" cy="4193540"/>
            </a:xfrm>
            <a:custGeom>
              <a:avLst/>
              <a:gdLst/>
              <a:ahLst/>
              <a:cxnLst/>
              <a:rect l="l" t="t" r="r" b="b"/>
              <a:pathLst>
                <a:path w="4638675" h="5162550">
                  <a:moveTo>
                    <a:pt x="1873281" y="0"/>
                  </a:moveTo>
                  <a:lnTo>
                    <a:pt x="1179988" y="0"/>
                  </a:lnTo>
                  <a:lnTo>
                    <a:pt x="1147335" y="5790"/>
                  </a:lnTo>
                  <a:lnTo>
                    <a:pt x="1092174" y="48756"/>
                  </a:lnTo>
                  <a:lnTo>
                    <a:pt x="1072165" y="83692"/>
                  </a:lnTo>
                  <a:lnTo>
                    <a:pt x="726344" y="882523"/>
                  </a:lnTo>
                  <a:lnTo>
                    <a:pt x="713700" y="922043"/>
                  </a:lnTo>
                  <a:lnTo>
                    <a:pt x="709485" y="964184"/>
                  </a:lnTo>
                  <a:lnTo>
                    <a:pt x="713700" y="1006324"/>
                  </a:lnTo>
                  <a:lnTo>
                    <a:pt x="726344" y="1045845"/>
                  </a:lnTo>
                  <a:lnTo>
                    <a:pt x="1072165" y="1844675"/>
                  </a:lnTo>
                  <a:lnTo>
                    <a:pt x="1092184" y="1879615"/>
                  </a:lnTo>
                  <a:lnTo>
                    <a:pt x="1118520" y="1906397"/>
                  </a:lnTo>
                  <a:lnTo>
                    <a:pt x="1092866" y="1965960"/>
                  </a:lnTo>
                  <a:lnTo>
                    <a:pt x="786923" y="2672207"/>
                  </a:lnTo>
                  <a:lnTo>
                    <a:pt x="769379" y="2718113"/>
                  </a:lnTo>
                  <a:lnTo>
                    <a:pt x="756848" y="2766349"/>
                  </a:lnTo>
                  <a:lnTo>
                    <a:pt x="749329" y="2816140"/>
                  </a:lnTo>
                  <a:lnTo>
                    <a:pt x="746823" y="2866707"/>
                  </a:lnTo>
                  <a:lnTo>
                    <a:pt x="749329" y="2917274"/>
                  </a:lnTo>
                  <a:lnTo>
                    <a:pt x="756848" y="2967065"/>
                  </a:lnTo>
                  <a:lnTo>
                    <a:pt x="769379" y="3015301"/>
                  </a:lnTo>
                  <a:lnTo>
                    <a:pt x="786923" y="3061207"/>
                  </a:lnTo>
                  <a:lnTo>
                    <a:pt x="1610645" y="4963325"/>
                  </a:lnTo>
                  <a:lnTo>
                    <a:pt x="1636086" y="5013193"/>
                  </a:lnTo>
                  <a:lnTo>
                    <a:pt x="1666206" y="5056755"/>
                  </a:lnTo>
                  <a:lnTo>
                    <a:pt x="1700442" y="5093514"/>
                  </a:lnTo>
                  <a:lnTo>
                    <a:pt x="1738233" y="5122970"/>
                  </a:lnTo>
                  <a:lnTo>
                    <a:pt x="1779017" y="5144627"/>
                  </a:lnTo>
                  <a:lnTo>
                    <a:pt x="1822230" y="5157986"/>
                  </a:lnTo>
                  <a:lnTo>
                    <a:pt x="1867312" y="5162550"/>
                  </a:lnTo>
                  <a:lnTo>
                    <a:pt x="3518185" y="5162550"/>
                  </a:lnTo>
                  <a:lnTo>
                    <a:pt x="3562144" y="5157986"/>
                  </a:lnTo>
                  <a:lnTo>
                    <a:pt x="3604868" y="5144627"/>
                  </a:lnTo>
                  <a:lnTo>
                    <a:pt x="3645541" y="5122970"/>
                  </a:lnTo>
                  <a:lnTo>
                    <a:pt x="3683349" y="5093514"/>
                  </a:lnTo>
                  <a:lnTo>
                    <a:pt x="3717475" y="5056755"/>
                  </a:lnTo>
                  <a:lnTo>
                    <a:pt x="3747105" y="5013193"/>
                  </a:lnTo>
                  <a:lnTo>
                    <a:pt x="3771423" y="4963325"/>
                  </a:lnTo>
                  <a:lnTo>
                    <a:pt x="4598574" y="3061208"/>
                  </a:lnTo>
                  <a:lnTo>
                    <a:pt x="4616118" y="3015301"/>
                  </a:lnTo>
                  <a:lnTo>
                    <a:pt x="4628649" y="2967065"/>
                  </a:lnTo>
                  <a:lnTo>
                    <a:pt x="4636168" y="2917274"/>
                  </a:lnTo>
                  <a:lnTo>
                    <a:pt x="4638674" y="2866707"/>
                  </a:lnTo>
                  <a:lnTo>
                    <a:pt x="4636168" y="2816140"/>
                  </a:lnTo>
                  <a:lnTo>
                    <a:pt x="4628649" y="2766349"/>
                  </a:lnTo>
                  <a:lnTo>
                    <a:pt x="4616118" y="2718113"/>
                  </a:lnTo>
                  <a:lnTo>
                    <a:pt x="4598574" y="2672207"/>
                  </a:lnTo>
                  <a:lnTo>
                    <a:pt x="4271016" y="1918970"/>
                  </a:lnTo>
                  <a:lnTo>
                    <a:pt x="1177067" y="1918970"/>
                  </a:lnTo>
                  <a:lnTo>
                    <a:pt x="1168717" y="1918594"/>
                  </a:lnTo>
                  <a:lnTo>
                    <a:pt x="1160462" y="1917493"/>
                  </a:lnTo>
                  <a:lnTo>
                    <a:pt x="1152350" y="1915701"/>
                  </a:lnTo>
                  <a:lnTo>
                    <a:pt x="1144428" y="1913254"/>
                  </a:lnTo>
                  <a:lnTo>
                    <a:pt x="1125124" y="1902460"/>
                  </a:lnTo>
                  <a:lnTo>
                    <a:pt x="1143793" y="1859407"/>
                  </a:lnTo>
                  <a:lnTo>
                    <a:pt x="1168685" y="1801622"/>
                  </a:lnTo>
                  <a:lnTo>
                    <a:pt x="1131949" y="1761112"/>
                  </a:lnTo>
                  <a:lnTo>
                    <a:pt x="817149" y="1036574"/>
                  </a:lnTo>
                  <a:lnTo>
                    <a:pt x="802200" y="964184"/>
                  </a:lnTo>
                  <a:lnTo>
                    <a:pt x="805934" y="926792"/>
                  </a:lnTo>
                  <a:lnTo>
                    <a:pt x="1123727" y="183641"/>
                  </a:lnTo>
                  <a:lnTo>
                    <a:pt x="1164066" y="129254"/>
                  </a:lnTo>
                  <a:lnTo>
                    <a:pt x="1219358" y="109347"/>
                  </a:lnTo>
                  <a:lnTo>
                    <a:pt x="1990742" y="109347"/>
                  </a:lnTo>
                  <a:lnTo>
                    <a:pt x="1979580" y="83692"/>
                  </a:lnTo>
                  <a:lnTo>
                    <a:pt x="1960239" y="48756"/>
                  </a:lnTo>
                  <a:lnTo>
                    <a:pt x="1934860" y="22415"/>
                  </a:lnTo>
                  <a:lnTo>
                    <a:pt x="1905267" y="5790"/>
                  </a:lnTo>
                  <a:lnTo>
                    <a:pt x="1873281" y="0"/>
                  </a:lnTo>
                  <a:close/>
                </a:path>
                <a:path w="4638675" h="5162550">
                  <a:moveTo>
                    <a:pt x="673766" y="3129788"/>
                  </a:moveTo>
                  <a:lnTo>
                    <a:pt x="272446" y="3129788"/>
                  </a:lnTo>
                  <a:lnTo>
                    <a:pt x="253539" y="3133133"/>
                  </a:lnTo>
                  <a:lnTo>
                    <a:pt x="221583" y="3157970"/>
                  </a:lnTo>
                  <a:lnTo>
                    <a:pt x="9810" y="3640581"/>
                  </a:lnTo>
                  <a:lnTo>
                    <a:pt x="0" y="3687889"/>
                  </a:lnTo>
                  <a:lnTo>
                    <a:pt x="2452" y="3712305"/>
                  </a:lnTo>
                  <a:lnTo>
                    <a:pt x="209962" y="4197604"/>
                  </a:lnTo>
                  <a:lnTo>
                    <a:pt x="236347" y="4233037"/>
                  </a:lnTo>
                  <a:lnTo>
                    <a:pt x="272446" y="4245991"/>
                  </a:lnTo>
                  <a:lnTo>
                    <a:pt x="673766" y="4245991"/>
                  </a:lnTo>
                  <a:lnTo>
                    <a:pt x="724076" y="4217808"/>
                  </a:lnTo>
                  <a:lnTo>
                    <a:pt x="936402" y="3735197"/>
                  </a:lnTo>
                  <a:lnTo>
                    <a:pt x="946118" y="3687889"/>
                  </a:lnTo>
                  <a:lnTo>
                    <a:pt x="943689" y="3663473"/>
                  </a:lnTo>
                  <a:lnTo>
                    <a:pt x="735234" y="3178175"/>
                  </a:lnTo>
                  <a:lnTo>
                    <a:pt x="709406" y="3142742"/>
                  </a:lnTo>
                  <a:lnTo>
                    <a:pt x="673766" y="3129788"/>
                  </a:lnTo>
                  <a:close/>
                </a:path>
                <a:path w="4638675" h="5162550">
                  <a:moveTo>
                    <a:pt x="3518185" y="570864"/>
                  </a:moveTo>
                  <a:lnTo>
                    <a:pt x="2192686" y="570864"/>
                  </a:lnTo>
                  <a:lnTo>
                    <a:pt x="2324131" y="873125"/>
                  </a:lnTo>
                  <a:lnTo>
                    <a:pt x="2336776" y="912645"/>
                  </a:lnTo>
                  <a:lnTo>
                    <a:pt x="2340986" y="954833"/>
                  </a:lnTo>
                  <a:lnTo>
                    <a:pt x="2336776" y="996926"/>
                  </a:lnTo>
                  <a:lnTo>
                    <a:pt x="2324076" y="1036574"/>
                  </a:lnTo>
                  <a:lnTo>
                    <a:pt x="1976659" y="1835277"/>
                  </a:lnTo>
                  <a:lnTo>
                    <a:pt x="1957318" y="1870213"/>
                  </a:lnTo>
                  <a:lnTo>
                    <a:pt x="1931939" y="1896554"/>
                  </a:lnTo>
                  <a:lnTo>
                    <a:pt x="1902212" y="1913254"/>
                  </a:lnTo>
                  <a:lnTo>
                    <a:pt x="1901930" y="1913254"/>
                  </a:lnTo>
                  <a:lnTo>
                    <a:pt x="1870360" y="1918970"/>
                  </a:lnTo>
                  <a:lnTo>
                    <a:pt x="4271016" y="1918970"/>
                  </a:lnTo>
                  <a:lnTo>
                    <a:pt x="3771423" y="770127"/>
                  </a:lnTo>
                  <a:lnTo>
                    <a:pt x="3747105" y="720261"/>
                  </a:lnTo>
                  <a:lnTo>
                    <a:pt x="3717475" y="676695"/>
                  </a:lnTo>
                  <a:lnTo>
                    <a:pt x="3683349" y="639929"/>
                  </a:lnTo>
                  <a:lnTo>
                    <a:pt x="3645541" y="610463"/>
                  </a:lnTo>
                  <a:lnTo>
                    <a:pt x="3604868" y="588797"/>
                  </a:lnTo>
                  <a:lnTo>
                    <a:pt x="3562144" y="575431"/>
                  </a:lnTo>
                  <a:lnTo>
                    <a:pt x="3518185" y="570864"/>
                  </a:lnTo>
                  <a:close/>
                </a:path>
                <a:path w="4638675" h="5162550">
                  <a:moveTo>
                    <a:pt x="2097817" y="570864"/>
                  </a:moveTo>
                  <a:lnTo>
                    <a:pt x="1867312" y="570864"/>
                  </a:lnTo>
                  <a:lnTo>
                    <a:pt x="1822230" y="575431"/>
                  </a:lnTo>
                  <a:lnTo>
                    <a:pt x="1779017" y="588797"/>
                  </a:lnTo>
                  <a:lnTo>
                    <a:pt x="1738233" y="610463"/>
                  </a:lnTo>
                  <a:lnTo>
                    <a:pt x="1700442" y="639929"/>
                  </a:lnTo>
                  <a:lnTo>
                    <a:pt x="1666206" y="676695"/>
                  </a:lnTo>
                  <a:lnTo>
                    <a:pt x="1636086" y="720261"/>
                  </a:lnTo>
                  <a:lnTo>
                    <a:pt x="1610645" y="770127"/>
                  </a:lnTo>
                  <a:lnTo>
                    <a:pt x="1167542" y="1793366"/>
                  </a:lnTo>
                  <a:lnTo>
                    <a:pt x="1187685" y="1804481"/>
                  </a:lnTo>
                  <a:lnTo>
                    <a:pt x="1194506" y="1806676"/>
                  </a:lnTo>
                  <a:lnTo>
                    <a:pt x="1201674" y="1808305"/>
                  </a:lnTo>
                  <a:lnTo>
                    <a:pt x="1208984" y="1809291"/>
                  </a:lnTo>
                  <a:lnTo>
                    <a:pt x="1216437" y="1809623"/>
                  </a:lnTo>
                  <a:lnTo>
                    <a:pt x="1830990" y="1809623"/>
                  </a:lnTo>
                  <a:lnTo>
                    <a:pt x="1885584" y="1789731"/>
                  </a:lnTo>
                  <a:lnTo>
                    <a:pt x="1925224" y="1735454"/>
                  </a:lnTo>
                  <a:lnTo>
                    <a:pt x="2233326" y="1027176"/>
                  </a:lnTo>
                  <a:lnTo>
                    <a:pt x="2248185" y="954833"/>
                  </a:lnTo>
                  <a:lnTo>
                    <a:pt x="2244470" y="917465"/>
                  </a:lnTo>
                  <a:lnTo>
                    <a:pt x="2233367" y="882523"/>
                  </a:lnTo>
                  <a:lnTo>
                    <a:pt x="2097817" y="570864"/>
                  </a:lnTo>
                  <a:close/>
                </a:path>
                <a:path w="4638675" h="5162550">
                  <a:moveTo>
                    <a:pt x="1990742" y="109347"/>
                  </a:moveTo>
                  <a:lnTo>
                    <a:pt x="1833911" y="109347"/>
                  </a:lnTo>
                  <a:lnTo>
                    <a:pt x="1862318" y="114490"/>
                  </a:lnTo>
                  <a:lnTo>
                    <a:pt x="1888569" y="129254"/>
                  </a:lnTo>
                  <a:lnTo>
                    <a:pt x="1911082" y="152638"/>
                  </a:lnTo>
                  <a:lnTo>
                    <a:pt x="1928272" y="183641"/>
                  </a:lnTo>
                  <a:lnTo>
                    <a:pt x="2092102" y="560577"/>
                  </a:lnTo>
                  <a:lnTo>
                    <a:pt x="2186971" y="560577"/>
                  </a:lnTo>
                  <a:lnTo>
                    <a:pt x="2166016" y="512190"/>
                  </a:lnTo>
                  <a:lnTo>
                    <a:pt x="1990742" y="109347"/>
                  </a:lnTo>
                  <a:close/>
                </a:path>
              </a:pathLst>
            </a:custGeom>
            <a:solidFill>
              <a:srgbClr val="7E7E7E">
                <a:alpha val="14901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7315168" y="2552700"/>
              <a:ext cx="3200400" cy="325945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86800" y="190500"/>
              <a:ext cx="2247900" cy="1066800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57200" y="384810"/>
            <a:ext cx="8103235" cy="693420"/>
          </a:xfrm>
          <a:prstGeom prst="rect">
            <a:avLst/>
          </a:prstGeom>
        </p:spPr>
        <p:txBody>
          <a:bodyPr vert="horz" wrap="square" lIns="0" tIns="1651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spc="-85" dirty="0">
                <a:solidFill>
                  <a:srgbClr val="1F487C"/>
                </a:solidFill>
              </a:rPr>
              <a:t>SMART</a:t>
            </a:r>
            <a:r>
              <a:rPr sz="3950" spc="85" dirty="0">
                <a:solidFill>
                  <a:srgbClr val="1F487C"/>
                </a:solidFill>
              </a:rPr>
              <a:t> </a:t>
            </a:r>
            <a:r>
              <a:rPr sz="3950" spc="120" dirty="0">
                <a:solidFill>
                  <a:srgbClr val="1F487C"/>
                </a:solidFill>
              </a:rPr>
              <a:t>INDIA</a:t>
            </a:r>
            <a:r>
              <a:rPr sz="3950" spc="65" dirty="0">
                <a:solidFill>
                  <a:srgbClr val="1F487C"/>
                </a:solidFill>
              </a:rPr>
              <a:t> </a:t>
            </a:r>
            <a:r>
              <a:rPr sz="3950" dirty="0">
                <a:solidFill>
                  <a:srgbClr val="1F487C"/>
                </a:solidFill>
              </a:rPr>
              <a:t>HACKATHON</a:t>
            </a:r>
            <a:r>
              <a:rPr sz="3950" spc="75" dirty="0">
                <a:solidFill>
                  <a:srgbClr val="1F487C"/>
                </a:solidFill>
              </a:rPr>
              <a:t> </a:t>
            </a:r>
            <a:r>
              <a:rPr sz="3950" spc="-20" dirty="0">
                <a:solidFill>
                  <a:srgbClr val="1F487C"/>
                </a:solidFill>
              </a:rPr>
              <a:t>2026</a:t>
            </a:r>
            <a:endParaRPr sz="3950"/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457200" y="1415097"/>
            <a:ext cx="6824345" cy="4910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indent="0">
              <a:lnSpc>
                <a:spcPct val="100000"/>
              </a:lnSpc>
              <a:spcBef>
                <a:spcPts val="100"/>
              </a:spcBef>
              <a:buNone/>
              <a:tabLst>
                <a:tab pos="297180" algn="l"/>
              </a:tabLst>
            </a:pPr>
            <a:r>
              <a:rPr dirty="0"/>
              <a:t>Problem</a:t>
            </a:r>
            <a:r>
              <a:rPr spc="-70" dirty="0"/>
              <a:t> </a:t>
            </a:r>
            <a:r>
              <a:rPr dirty="0"/>
              <a:t>Statement</a:t>
            </a:r>
            <a:r>
              <a:rPr spc="-10" dirty="0"/>
              <a:t> </a:t>
            </a:r>
            <a:r>
              <a:rPr dirty="0"/>
              <a:t>ID</a:t>
            </a:r>
            <a:r>
              <a:rPr lang="en-IN" dirty="0"/>
              <a:t>:</a:t>
            </a:r>
            <a:r>
              <a:rPr spc="-45" dirty="0"/>
              <a:t> </a:t>
            </a:r>
            <a:r>
              <a:rPr lang="en-US" altLang="en-GB" b="0" spc="-10" dirty="0">
                <a:latin typeface="Calibri" panose="020F0502020204030204"/>
                <a:cs typeface="Calibri" panose="020F0502020204030204"/>
              </a:rPr>
              <a:t>SIH26184</a:t>
            </a:r>
            <a:endParaRPr lang="en-US" altLang="en-GB" b="0" spc="-10" dirty="0">
              <a:latin typeface="Calibri" panose="020F0502020204030204"/>
              <a:cs typeface="Calibri" panose="020F0502020204030204"/>
            </a:endParaRPr>
          </a:p>
          <a:p>
            <a:pPr marL="12700" indent="0">
              <a:lnSpc>
                <a:spcPct val="100000"/>
              </a:lnSpc>
              <a:spcBef>
                <a:spcPts val="100"/>
              </a:spcBef>
              <a:buNone/>
              <a:tabLst>
                <a:tab pos="297180" algn="l"/>
              </a:tabLst>
            </a:pPr>
            <a:r>
              <a:rPr lang="en-IN" altLang="en-US" sz="1800" b="0" spc="-10" dirty="0">
                <a:latin typeface="Calibri" panose="020F0502020204030204"/>
                <a:cs typeface="Calibri" panose="020F0502020204030204"/>
              </a:rPr>
              <a:t> </a:t>
            </a:r>
            <a:endParaRPr lang="en-US" altLang="en-GB" b="0" spc="-10" dirty="0">
              <a:latin typeface="Calibri" panose="020F0502020204030204"/>
              <a:cs typeface="Calibri" panose="020F0502020204030204"/>
            </a:endParaRPr>
          </a:p>
          <a:p>
            <a:pPr marL="12700" indent="0">
              <a:lnSpc>
                <a:spcPct val="100000"/>
              </a:lnSpc>
              <a:spcBef>
                <a:spcPts val="100"/>
              </a:spcBef>
              <a:buNone/>
              <a:tabLst>
                <a:tab pos="297180" algn="l"/>
              </a:tabLst>
            </a:pPr>
            <a:r>
              <a:rPr dirty="0"/>
              <a:t>Problem</a:t>
            </a:r>
            <a:r>
              <a:rPr spc="-45" dirty="0"/>
              <a:t> </a:t>
            </a:r>
            <a:r>
              <a:rPr dirty="0"/>
              <a:t>Statement</a:t>
            </a:r>
            <a:r>
              <a:rPr spc="15" dirty="0"/>
              <a:t> </a:t>
            </a:r>
            <a:r>
              <a:rPr spc="-20" dirty="0"/>
              <a:t>Title</a:t>
            </a:r>
            <a:r>
              <a:rPr lang="en-IN" spc="-20" dirty="0"/>
              <a:t>: </a:t>
            </a:r>
            <a:r>
              <a:rPr lang="en-US" altLang="en-GB" sz="2000" b="0" spc="-20" dirty="0"/>
              <a:t>Development of a Predictive Analytics Framework for Cybercrime Complaints to Forecast Likely Cash Withdrawal Locations in Advance, Enabling Generation of Actionable Intelligence for Timely and Proactive Cybercrime Intervention.</a:t>
            </a:r>
            <a:endParaRPr lang="en-US" altLang="en-GB" sz="2000" b="0" spc="-20" dirty="0"/>
          </a:p>
          <a:p>
            <a:pPr marL="12700" indent="0">
              <a:lnSpc>
                <a:spcPct val="100000"/>
              </a:lnSpc>
              <a:spcBef>
                <a:spcPts val="100"/>
              </a:spcBef>
              <a:buNone/>
              <a:tabLst>
                <a:tab pos="297180" algn="l"/>
              </a:tabLst>
            </a:pPr>
            <a:r>
              <a:rPr lang="en-IN" altLang="en-US" sz="1800" b="0" spc="-20" dirty="0"/>
              <a:t> </a:t>
            </a:r>
            <a:endParaRPr lang="en-US" altLang="en-GB" sz="2000" b="0" spc="-20" dirty="0"/>
          </a:p>
          <a:p>
            <a:pPr marL="12700" indent="0">
              <a:lnSpc>
                <a:spcPct val="100000"/>
              </a:lnSpc>
              <a:spcBef>
                <a:spcPts val="100"/>
              </a:spcBef>
              <a:buNone/>
              <a:tabLst>
                <a:tab pos="297180" algn="l"/>
              </a:tabLst>
            </a:pPr>
            <a:r>
              <a:rPr spc="-20" dirty="0"/>
              <a:t>Theme</a:t>
            </a:r>
            <a:r>
              <a:rPr lang="en-IN" spc="-20" dirty="0"/>
              <a:t>: </a:t>
            </a:r>
            <a:r>
              <a:rPr lang="en-US" altLang="en-GB" b="0" spc="-10" dirty="0">
                <a:latin typeface="Calibri" panose="020F0502020204030204"/>
                <a:cs typeface="Calibri" panose="020F0502020204030204"/>
              </a:rPr>
              <a:t>Blockchain &amp; Cybersecurity</a:t>
            </a:r>
            <a:endParaRPr lang="en-US" altLang="en-GB" b="0" spc="-10" dirty="0">
              <a:latin typeface="Calibri" panose="020F0502020204030204"/>
              <a:cs typeface="Calibri" panose="020F0502020204030204"/>
            </a:endParaRPr>
          </a:p>
          <a:p>
            <a:pPr marL="12700" indent="0">
              <a:lnSpc>
                <a:spcPct val="100000"/>
              </a:lnSpc>
              <a:spcBef>
                <a:spcPts val="100"/>
              </a:spcBef>
              <a:buNone/>
              <a:tabLst>
                <a:tab pos="297180" algn="l"/>
              </a:tabLst>
            </a:pPr>
            <a:r>
              <a:rPr lang="en-IN" sz="1800"/>
              <a:t> </a:t>
            </a:r>
            <a:endParaRPr lang="en-IN" sz="1800"/>
          </a:p>
          <a:p>
            <a:pPr marL="12700" indent="0">
              <a:lnSpc>
                <a:spcPct val="100000"/>
              </a:lnSpc>
              <a:buNone/>
              <a:tabLst>
                <a:tab pos="297180" algn="l"/>
              </a:tabLst>
            </a:pPr>
            <a:r>
              <a:rPr dirty="0"/>
              <a:t>PS</a:t>
            </a:r>
            <a:r>
              <a:rPr spc="-30" dirty="0"/>
              <a:t> </a:t>
            </a:r>
            <a:r>
              <a:rPr dirty="0"/>
              <a:t>Category</a:t>
            </a:r>
            <a:r>
              <a:rPr lang="en-IN" dirty="0"/>
              <a:t>:</a:t>
            </a:r>
            <a:r>
              <a:rPr spc="-55" dirty="0"/>
              <a:t> </a:t>
            </a:r>
            <a:r>
              <a:rPr b="0" spc="-10" dirty="0"/>
              <a:t>Software</a:t>
            </a:r>
            <a:endParaRPr spc="-10" dirty="0"/>
          </a:p>
          <a:p>
            <a:pPr marL="12700" indent="0">
              <a:lnSpc>
                <a:spcPct val="100000"/>
              </a:lnSpc>
              <a:buNone/>
              <a:tabLst>
                <a:tab pos="297180" algn="l"/>
              </a:tabLst>
            </a:pPr>
            <a:r>
              <a:rPr lang="en-IN" sz="1800"/>
              <a:t> </a:t>
            </a:r>
            <a:endParaRPr lang="en-IN" sz="1800"/>
          </a:p>
          <a:p>
            <a:pPr marL="12700" indent="0">
              <a:lnSpc>
                <a:spcPct val="100000"/>
              </a:lnSpc>
              <a:spcBef>
                <a:spcPts val="5"/>
              </a:spcBef>
              <a:buNone/>
              <a:tabLst>
                <a:tab pos="297180" algn="l"/>
              </a:tabLst>
            </a:pPr>
            <a:r>
              <a:rPr spc="-25" dirty="0"/>
              <a:t>Team</a:t>
            </a:r>
            <a:r>
              <a:rPr spc="-140" dirty="0"/>
              <a:t> </a:t>
            </a:r>
            <a:r>
              <a:rPr spc="-25" dirty="0"/>
              <a:t>ID</a:t>
            </a:r>
            <a:r>
              <a:rPr lang="en-IN" spc="-25" dirty="0"/>
              <a:t>:</a:t>
            </a:r>
            <a:endParaRPr lang="en-IN" spc="-25" dirty="0"/>
          </a:p>
          <a:p>
            <a:pPr marL="12700" indent="0">
              <a:lnSpc>
                <a:spcPct val="100000"/>
              </a:lnSpc>
              <a:spcBef>
                <a:spcPts val="5"/>
              </a:spcBef>
              <a:buNone/>
              <a:tabLst>
                <a:tab pos="297180" algn="l"/>
              </a:tabLst>
            </a:pPr>
            <a:r>
              <a:rPr lang="en-IN" sz="1800" spc="-25" dirty="0"/>
              <a:t> </a:t>
            </a:r>
            <a:endParaRPr lang="en-IN" spc="-25" dirty="0"/>
          </a:p>
          <a:p>
            <a:pPr marL="12700" indent="0">
              <a:lnSpc>
                <a:spcPct val="100000"/>
              </a:lnSpc>
              <a:spcBef>
                <a:spcPts val="5"/>
              </a:spcBef>
              <a:buNone/>
              <a:tabLst>
                <a:tab pos="297180" algn="l"/>
              </a:tabLst>
            </a:pPr>
            <a:r>
              <a:rPr spc="-25" dirty="0"/>
              <a:t>Team</a:t>
            </a:r>
            <a:r>
              <a:rPr spc="-100" dirty="0"/>
              <a:t> </a:t>
            </a:r>
            <a:r>
              <a:rPr dirty="0"/>
              <a:t>Name</a:t>
            </a:r>
            <a:r>
              <a:rPr lang="en-IN" dirty="0"/>
              <a:t>: </a:t>
            </a:r>
            <a:r>
              <a:rPr lang="en-IN" b="0" dirty="0"/>
              <a:t>Team Zero</a:t>
            </a:r>
            <a:endParaRPr lang="en-IN" b="0" spc="-10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 descr="C:/Users/Muthu/Downloads/Team Zero.pngTeam Zero"/>
          <p:cNvPicPr/>
          <p:nvPr/>
        </p:nvPicPr>
        <p:blipFill>
          <a:blip r:embed="rId1"/>
          <a:srcRect l="4987" r="4987"/>
          <a:stretch>
            <a:fillRect/>
          </a:stretch>
        </p:blipFill>
        <p:spPr>
          <a:xfrm>
            <a:off x="457200" y="76200"/>
            <a:ext cx="1014095" cy="103568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75570" y="94615"/>
            <a:ext cx="1731645" cy="81153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4872673" y="6441440"/>
            <a:ext cx="2446655" cy="18923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40"/>
              </a:spcBef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SMART</a:t>
            </a:r>
            <a:r>
              <a:rPr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INDIA</a:t>
            </a:r>
            <a:r>
              <a:rPr spc="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25" dirty="0">
                <a:latin typeface="Arial" panose="020B0604020202020204" pitchFamily="34" charset="0"/>
                <a:cs typeface="Arial" panose="020B0604020202020204" pitchFamily="34" charset="0"/>
              </a:rPr>
              <a:t>HACKATHON-</a:t>
            </a: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2026</a:t>
            </a:r>
            <a:endParaRPr spc="-2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>
                <a:latin typeface="Arial" panose="020B0604020202020204" pitchFamily="34" charset="0"/>
                <a:cs typeface="Arial" panose="020B0604020202020204" pitchFamily="34" charset="0"/>
              </a:rPr>
            </a:fld>
            <a:endParaRPr spc="-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4161790" y="368935"/>
            <a:ext cx="38684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IN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IDEA: </a:t>
            </a:r>
            <a:r>
              <a:rPr lang="en-US" altLang="en-GB" sz="2400" b="1">
                <a:latin typeface="Arial" panose="020B0604020202020204" pitchFamily="34" charset="0"/>
                <a:cs typeface="Arial" panose="020B0604020202020204" pitchFamily="34" charset="0"/>
              </a:rPr>
              <a:t>ZeroFraud</a:t>
            </a:r>
            <a:r>
              <a:rPr lang="en-IN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 360</a:t>
            </a:r>
            <a:endParaRPr lang="en-IN" alt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457200" y="1295400"/>
            <a:ext cx="6256020" cy="203073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lang="en-IN" altLang="en-US" sz="1800" b="1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US" altLang="zh-CN" sz="1800" b="1">
                <a:latin typeface="Arial" panose="020B0604020202020204" pitchFamily="34" charset="0"/>
                <a:cs typeface="Arial" panose="020B0604020202020204" pitchFamily="34" charset="0"/>
              </a:rPr>
              <a:t>How Our Idea Works</a:t>
            </a:r>
            <a:r>
              <a:rPr lang="en-IN" altLang="en-US" sz="1800" b="1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altLang="zh-CN" sz="18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1600">
                <a:latin typeface="Arial" panose="020B0604020202020204" pitchFamily="34" charset="0"/>
                <a:cs typeface="Arial" panose="020B0604020202020204" pitchFamily="34" charset="0"/>
              </a:rPr>
              <a:t>Most fraud is detected after the money has already moved. ZeroFraud360 detects suspicious money movement in real time.</a:t>
            </a:r>
            <a:endParaRPr lang="en-US" altLang="en-GB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1600">
                <a:latin typeface="Arial" panose="020B0604020202020204" pitchFamily="34" charset="0"/>
                <a:cs typeface="Arial" panose="020B0604020202020204" pitchFamily="34" charset="0"/>
              </a:rPr>
              <a:t>When a transaction occurs, AI continuously tracks the money flow. Unusual movement across multiple accounts is identified as suspicious.</a:t>
            </a:r>
            <a:endParaRPr lang="en-US" altLang="en-GB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457200" y="3733800"/>
            <a:ext cx="5916930" cy="1784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spcAft>
                <a:spcPct val="60000"/>
              </a:spcAft>
            </a:pPr>
            <a:r>
              <a:rPr lang="en-IN" altLang="en-US" sz="1800"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2. Protection after AI Detect it was suspicious:</a:t>
            </a:r>
            <a:endParaRPr lang="en-US" altLang="zh-CN" sz="18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1600">
                <a:latin typeface="Arial" panose="020B0604020202020204" pitchFamily="34" charset="0"/>
                <a:cs typeface="Arial" panose="020B0604020202020204" pitchFamily="34" charset="0"/>
              </a:rPr>
              <a:t>When suspicious activity is detected, the system raises an alert and temporarily protects the transaction.</a:t>
            </a:r>
            <a:endParaRPr lang="en-US" altLang="en-GB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1600">
                <a:latin typeface="Arial" panose="020B0604020202020204" pitchFamily="34" charset="0"/>
                <a:cs typeface="Arial" panose="020B0604020202020204" pitchFamily="34" charset="0"/>
              </a:rPr>
              <a:t>High-risk transfers or withdrawals can be restricted while the user, bank, and authorities verify the activity.</a:t>
            </a:r>
            <a:endParaRPr lang="en-US" altLang="en-GB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Box 24"/>
          <p:cNvSpPr txBox="1"/>
          <p:nvPr/>
        </p:nvSpPr>
        <p:spPr>
          <a:xfrm>
            <a:off x="6703060" y="1295400"/>
            <a:ext cx="5361305" cy="178435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lang="en-IN" altLang="en-US" sz="1800" b="1">
                <a:latin typeface="Arial" panose="020B0604020202020204" pitchFamily="34" charset="0"/>
                <a:cs typeface="Arial" panose="020B0604020202020204" pitchFamily="34" charset="0"/>
              </a:rPr>
              <a:t>3. P</a:t>
            </a:r>
            <a:r>
              <a:rPr lang="en-US" altLang="en-GB" sz="1800" b="1">
                <a:latin typeface="Arial" panose="020B0604020202020204" pitchFamily="34" charset="0"/>
                <a:cs typeface="Arial" panose="020B0604020202020204" pitchFamily="34" charset="0"/>
              </a:rPr>
              <a:t>recaution</a:t>
            </a:r>
            <a:r>
              <a:rPr lang="en-IN" altLang="en-US" sz="1800" b="1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altLang="zh-CN" sz="18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sz="1600" b="0">
                <a:latin typeface="Arial" panose="020B0604020202020204" pitchFamily="34" charset="0"/>
                <a:cs typeface="Arial" panose="020B0604020202020204" pitchFamily="34" charset="0"/>
              </a:rPr>
              <a:t>AI predicts the likely cash-out location and time, allowing action before the fraud is completed.</a:t>
            </a:r>
            <a:endParaRPr lang="en-US" altLang="en-GB" sz="1600" b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GB" sz="16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GB" sz="1600" b="1">
                <a:latin typeface="Arial" panose="020B0604020202020204" pitchFamily="34" charset="0"/>
                <a:cs typeface="Arial" panose="020B0604020202020204" pitchFamily="34" charset="0"/>
              </a:rPr>
              <a:t>Detect Early </a:t>
            </a:r>
            <a:r>
              <a:rPr lang="en-US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altLang="en-GB" sz="1600" b="1">
                <a:latin typeface="Arial" panose="020B0604020202020204" pitchFamily="34" charset="0"/>
                <a:cs typeface="Arial" panose="020B0604020202020204" pitchFamily="34" charset="0"/>
              </a:rPr>
              <a:t> Protect Money </a:t>
            </a:r>
            <a:r>
              <a:rPr lang="en-US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altLang="en-GB" sz="1600" b="1">
                <a:latin typeface="Arial" panose="020B0604020202020204" pitchFamily="34" charset="0"/>
                <a:cs typeface="Arial" panose="020B0604020202020204" pitchFamily="34" charset="0"/>
              </a:rPr>
              <a:t> Verify User </a:t>
            </a:r>
            <a:r>
              <a:rPr lang="en-US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altLang="en-GB" sz="1600" b="1">
                <a:latin typeface="Arial" panose="020B0604020202020204" pitchFamily="34" charset="0"/>
                <a:cs typeface="Arial" panose="020B0604020202020204" pitchFamily="34" charset="0"/>
              </a:rPr>
              <a:t> Alert Authorities </a:t>
            </a:r>
            <a:r>
              <a:rPr lang="en-US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altLang="en-GB" sz="1600" b="1">
                <a:latin typeface="Arial" panose="020B0604020202020204" pitchFamily="34" charset="0"/>
                <a:cs typeface="Arial" panose="020B0604020202020204" pitchFamily="34" charset="0"/>
              </a:rPr>
              <a:t> Predict Cash-Out </a:t>
            </a:r>
            <a:r>
              <a:rPr lang="en-US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altLang="en-GB" sz="1600" b="1">
                <a:latin typeface="Arial" panose="020B0604020202020204" pitchFamily="34" charset="0"/>
                <a:cs typeface="Arial" panose="020B0604020202020204" pitchFamily="34" charset="0"/>
              </a:rPr>
              <a:t> Prevent Fraud</a:t>
            </a:r>
            <a:endParaRPr lang="en-US" altLang="en-GB" sz="1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 descr="ChatGPT Image Sep 11, 2026, 04_46_30 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6110" y="3477260"/>
            <a:ext cx="4774565" cy="24707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SMART</a:t>
            </a:r>
            <a:r>
              <a:rPr spc="5" dirty="0"/>
              <a:t> </a:t>
            </a:r>
            <a:r>
              <a:rPr dirty="0"/>
              <a:t>INDIA</a:t>
            </a:r>
            <a:r>
              <a:rPr spc="55" dirty="0"/>
              <a:t> </a:t>
            </a:r>
            <a:r>
              <a:rPr spc="-25" dirty="0"/>
              <a:t>HACKATHON-</a:t>
            </a:r>
            <a:r>
              <a:rPr spc="-20" dirty="0"/>
              <a:t>2026</a:t>
            </a:r>
            <a:endParaRPr spc="-2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  <p:sp>
        <p:nvSpPr>
          <p:cNvPr id="15" name="Text Box 14"/>
          <p:cNvSpPr txBox="1"/>
          <p:nvPr/>
        </p:nvSpPr>
        <p:spPr>
          <a:xfrm>
            <a:off x="4161790" y="368935"/>
            <a:ext cx="38684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400" b="1" spc="-10" dirty="0">
                <a:sym typeface="+mn-ea"/>
              </a:rPr>
              <a:t>TECHNICAL</a:t>
            </a:r>
            <a:r>
              <a:rPr sz="2400" b="1" spc="-420" dirty="0">
                <a:sym typeface="+mn-ea"/>
              </a:rPr>
              <a:t> </a:t>
            </a:r>
            <a:r>
              <a:rPr sz="2400" b="1" spc="-10" dirty="0">
                <a:sym typeface="+mn-ea"/>
              </a:rPr>
              <a:t>APPROACH</a:t>
            </a:r>
            <a:endParaRPr lang="en-IN" alt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object 7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275570" y="94615"/>
            <a:ext cx="1731645" cy="811530"/>
          </a:xfrm>
          <a:prstGeom prst="rect">
            <a:avLst/>
          </a:prstGeom>
        </p:spPr>
      </p:pic>
      <p:pic>
        <p:nvPicPr>
          <p:cNvPr id="16" name="object 3" descr="C:/Users/Muthu/Downloads/Team Zero.pngTeam Zero"/>
          <p:cNvPicPr/>
          <p:nvPr/>
        </p:nvPicPr>
        <p:blipFill>
          <a:blip r:embed="rId2"/>
          <a:srcRect l="4987" r="4987"/>
          <a:stretch>
            <a:fillRect/>
          </a:stretch>
        </p:blipFill>
        <p:spPr>
          <a:xfrm>
            <a:off x="457200" y="76200"/>
            <a:ext cx="1014095" cy="1035685"/>
          </a:xfrm>
          <a:prstGeom prst="rect">
            <a:avLst/>
          </a:prstGeom>
        </p:spPr>
      </p:pic>
      <p:sp>
        <p:nvSpPr>
          <p:cNvPr id="19" name="Text Box 18"/>
          <p:cNvSpPr txBox="1"/>
          <p:nvPr/>
        </p:nvSpPr>
        <p:spPr>
          <a:xfrm>
            <a:off x="381000" y="1219517"/>
            <a:ext cx="5080000" cy="4951730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lang="en-US" altLang="zh-CN" sz="1600" b="1"/>
              <a:t>1. Real-Time Transaction Ingestion</a:t>
            </a:r>
            <a:endParaRPr lang="en-US" altLang="zh-CN" sz="1600" b="1"/>
          </a:p>
          <a:p>
            <a:r>
              <a:rPr lang="en-US" altLang="zh-CN" sz="1400"/>
              <a:t>Stream authorized transaction events through REST APIs / event queues, normalize data, and maintain a live transaction state for continuous analysis.</a:t>
            </a:r>
            <a:endParaRPr lang="en-US" altLang="zh-CN" sz="1400"/>
          </a:p>
          <a:p>
            <a:r>
              <a:rPr lang="en-IN" altLang="en-US" sz="900"/>
              <a:t> </a:t>
            </a:r>
            <a:endParaRPr lang="en-US" altLang="zh-CN" sz="1600"/>
          </a:p>
          <a:p>
            <a:pPr>
              <a:spcAft>
                <a:spcPct val="60000"/>
              </a:spcAft>
            </a:pPr>
            <a:r>
              <a:rPr lang="en-US" altLang="zh-CN" sz="1600" b="1"/>
              <a:t>2. AI Risk &amp; Anomaly Engine</a:t>
            </a:r>
            <a:endParaRPr lang="en-US" altLang="zh-CN" sz="1600" b="1"/>
          </a:p>
          <a:p>
            <a:r>
              <a:rPr lang="en-US" altLang="zh-CN" sz="1400"/>
              <a:t>Use feature engineering + anomaly detection + supervised ML to evaluate transaction velocity, amount deviation, account behavior, and rapid multi-hop movement, producing a dynamic risk score.</a:t>
            </a:r>
            <a:endParaRPr lang="en-US" altLang="zh-CN" sz="1400"/>
          </a:p>
          <a:p>
            <a:r>
              <a:rPr lang="en-IN" altLang="en-US" sz="900"/>
              <a:t> </a:t>
            </a:r>
            <a:endParaRPr lang="en-US" altLang="zh-CN" sz="1400"/>
          </a:p>
          <a:p>
            <a:pPr>
              <a:spcAft>
                <a:spcPct val="60000"/>
              </a:spcAft>
            </a:pPr>
            <a:r>
              <a:rPr lang="en-US" altLang="zh-CN" sz="1600" b="1"/>
              <a:t>3. Fraud Network Graph</a:t>
            </a:r>
            <a:endParaRPr lang="en-US" altLang="zh-CN" sz="1600" b="1"/>
          </a:p>
          <a:p>
            <a:r>
              <a:rPr lang="en-US" altLang="zh-CN" sz="1400"/>
              <a:t>Model Account–Transaction–Beneficiary–Location relationships as a dynamic graph to detect suspicious paths, connected entities, fund splitting, and propagation patterns.</a:t>
            </a:r>
            <a:endParaRPr lang="en-US" altLang="zh-CN" sz="1400"/>
          </a:p>
          <a:p>
            <a:endParaRPr lang="en-US" altLang="zh-CN" sz="900"/>
          </a:p>
          <a:p>
            <a:pPr>
              <a:spcAft>
                <a:spcPct val="60000"/>
              </a:spcAft>
            </a:pPr>
            <a:r>
              <a:rPr lang="en-US" altLang="zh-CN" sz="1600" b="1"/>
              <a:t>4. Automated Protective Workflow</a:t>
            </a:r>
            <a:endParaRPr lang="en-US" altLang="zh-CN" sz="1600" b="1"/>
          </a:p>
          <a:p>
            <a:r>
              <a:rPr lang="en-US" altLang="zh-CN" sz="1400"/>
              <a:t>High-risk events trigger a policy-based temporary hold/review workflow, account-holder verification, and secure intelligence distribution to the relevant Bank/FI and LEA.</a:t>
            </a:r>
            <a:endParaRPr lang="en-US" altLang="zh-CN" sz="1600"/>
          </a:p>
        </p:txBody>
      </p:sp>
      <p:sp>
        <p:nvSpPr>
          <p:cNvPr id="20" name="Text Box 19"/>
          <p:cNvSpPr txBox="1"/>
          <p:nvPr/>
        </p:nvSpPr>
        <p:spPr>
          <a:xfrm>
            <a:off x="5638800" y="1219200"/>
            <a:ext cx="6096000" cy="23336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altLang="zh-CN" sz="1600" b="1">
                <a:sym typeface="+mn-ea"/>
              </a:rPr>
              <a:t>5. Predictive Cash-Out Intelligence</a:t>
            </a:r>
            <a:endParaRPr lang="en-US" altLang="zh-CN" sz="1600" b="1"/>
          </a:p>
          <a:p>
            <a:r>
              <a:rPr lang="en-US" altLang="zh-CN" sz="1400">
                <a:sym typeface="+mn-ea"/>
              </a:rPr>
              <a:t>Combine spatiotemporal features, historical withdrawal patterns, graph signals, and geospatial proximity to rank probable cash-out locations and time windows.</a:t>
            </a:r>
            <a:endParaRPr lang="en-US" altLang="zh-CN" sz="1400">
              <a:sym typeface="+mn-ea"/>
            </a:endParaRPr>
          </a:p>
          <a:p>
            <a:r>
              <a:rPr lang="en-US" altLang="zh-CN" sz="900">
                <a:sym typeface="+mn-ea"/>
              </a:rPr>
              <a:t> </a:t>
            </a:r>
            <a:endParaRPr lang="en-US" altLang="zh-CN" sz="2200" b="1">
              <a:sym typeface="+mn-ea"/>
            </a:endParaRPr>
          </a:p>
          <a:p>
            <a:pPr>
              <a:spcAft>
                <a:spcPct val="60000"/>
              </a:spcAft>
            </a:pPr>
            <a:r>
              <a:rPr lang="en-US" altLang="zh-CN" sz="1600" b="1">
                <a:sym typeface="+mn-ea"/>
              </a:rPr>
              <a:t>6. Explainable &amp; Adaptive Intelligence</a:t>
            </a:r>
            <a:endParaRPr lang="en-US" altLang="zh-CN" sz="1600" b="1"/>
          </a:p>
          <a:p>
            <a:r>
              <a:rPr lang="en-US" altLang="zh-CN" sz="1400">
                <a:sym typeface="+mn-ea"/>
              </a:rPr>
              <a:t>Generate risk factors, prediction reasons, confidence scores, and audit trails; feed confirmed outcomes back into the system for model evaluation and improvement.</a:t>
            </a:r>
            <a:endParaRPr lang="en-US" altLang="zh-CN" sz="1400">
              <a:sym typeface="+mn-ea"/>
            </a:endParaRPr>
          </a:p>
        </p:txBody>
      </p:sp>
      <p:pic>
        <p:nvPicPr>
          <p:cNvPr id="21" name="Picture 20" descr="ChatGPT Image Sep 9, 2026, 06_26_54 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5765" y="3566160"/>
            <a:ext cx="6556375" cy="25285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enhanced_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1500" y="3967480"/>
            <a:ext cx="3807460" cy="225044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SMART</a:t>
            </a:r>
            <a:r>
              <a:rPr spc="5" dirty="0"/>
              <a:t> </a:t>
            </a:r>
            <a:r>
              <a:rPr dirty="0"/>
              <a:t>INDIA</a:t>
            </a:r>
            <a:r>
              <a:rPr spc="55" dirty="0"/>
              <a:t> </a:t>
            </a:r>
            <a:r>
              <a:rPr spc="-25" dirty="0"/>
              <a:t>HACKATHON-</a:t>
            </a:r>
            <a:r>
              <a:rPr spc="-20" dirty="0"/>
              <a:t>2026</a:t>
            </a:r>
            <a:endParaRPr spc="-2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  <p:sp>
        <p:nvSpPr>
          <p:cNvPr id="15" name="Text Box 14"/>
          <p:cNvSpPr txBox="1"/>
          <p:nvPr/>
        </p:nvSpPr>
        <p:spPr>
          <a:xfrm>
            <a:off x="3641090" y="368935"/>
            <a:ext cx="49098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2400" b="1" spc="-10" dirty="0">
                <a:sym typeface="+mn-ea"/>
              </a:rPr>
              <a:t>FEASIBILITY</a:t>
            </a:r>
            <a:r>
              <a:rPr sz="2400" b="1" spc="-355" dirty="0">
                <a:sym typeface="+mn-ea"/>
              </a:rPr>
              <a:t> </a:t>
            </a:r>
            <a:r>
              <a:rPr sz="2400" b="1" dirty="0">
                <a:sym typeface="+mn-ea"/>
              </a:rPr>
              <a:t>AND</a:t>
            </a:r>
            <a:r>
              <a:rPr sz="2400" b="1" spc="-25" dirty="0">
                <a:sym typeface="+mn-ea"/>
              </a:rPr>
              <a:t> </a:t>
            </a:r>
            <a:r>
              <a:rPr sz="2400" b="1" spc="-10" dirty="0">
                <a:sym typeface="+mn-ea"/>
              </a:rPr>
              <a:t>VIABILITY</a:t>
            </a:r>
            <a:endParaRPr lang="en-IN" alt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75570" y="94615"/>
            <a:ext cx="1731645" cy="811530"/>
          </a:xfrm>
          <a:prstGeom prst="rect">
            <a:avLst/>
          </a:prstGeom>
        </p:spPr>
      </p:pic>
      <p:pic>
        <p:nvPicPr>
          <p:cNvPr id="16" name="object 3" descr="C:/Users/Muthu/Downloads/Team Zero.pngTeam Zero"/>
          <p:cNvPicPr/>
          <p:nvPr/>
        </p:nvPicPr>
        <p:blipFill>
          <a:blip r:embed="rId3"/>
          <a:srcRect l="4987" r="4987"/>
          <a:stretch>
            <a:fillRect/>
          </a:stretch>
        </p:blipFill>
        <p:spPr>
          <a:xfrm>
            <a:off x="457200" y="76200"/>
            <a:ext cx="1014095" cy="1035685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381000" y="1143000"/>
            <a:ext cx="6174105" cy="292354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lang="en-US" altLang="zh-CN" sz="1800" b="1"/>
              <a:t>Feasibility of the Idea</a:t>
            </a:r>
            <a:endParaRPr lang="en-US" altLang="zh-CN" sz="1800" b="1"/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zh-CN" sz="1400"/>
              <a:t>Technically feasible: Uses proven technologies such as ML-based anomaly detection, transaction graphs, GIS, REST APIs, and real-time event processing. </a:t>
            </a:r>
            <a:endParaRPr lang="en-US" altLang="zh-CN" sz="1400"/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zh-CN" sz="1400"/>
              <a:t>Scalable architecture: Modular services can process large transaction volumes and support continuous monitoring as cybercrime complaints grow. </a:t>
            </a:r>
            <a:endParaRPr lang="en-US" altLang="zh-CN" sz="1400"/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zh-CN" sz="1400"/>
              <a:t>Existing ecosystem compatible: Can integrate with banking/FI systems and authorized law-enforcement workflows through secure APIs. </a:t>
            </a:r>
            <a:endParaRPr lang="en-US" altLang="zh-CN" sz="1400"/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zh-CN" sz="1400"/>
              <a:t>Prototype-friendly: The SIH solution can be demonstrated using synthetic/de-identified transaction data while following real-world architecture.</a:t>
            </a:r>
            <a:endParaRPr lang="en-US" altLang="zh-CN" sz="1400"/>
          </a:p>
        </p:txBody>
      </p:sp>
      <p:sp>
        <p:nvSpPr>
          <p:cNvPr id="12" name="Text Box 11"/>
          <p:cNvSpPr txBox="1"/>
          <p:nvPr/>
        </p:nvSpPr>
        <p:spPr>
          <a:xfrm>
            <a:off x="6629400" y="1143000"/>
            <a:ext cx="5292090" cy="270764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lang="en-US" altLang="zh-CN" sz="1800" b="1"/>
              <a:t>Potential Challenges &amp; Risks</a:t>
            </a:r>
            <a:endParaRPr lang="en-US" altLang="zh-CN" sz="18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/>
              <a:t>High false positives: Legitimate transactions may appear suspicious. </a:t>
            </a:r>
            <a:endParaRPr lang="en-US" altLang="zh-CN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/>
              <a:t>Data privacy &amp; security: Financial and personal data require strong protection. </a:t>
            </a:r>
            <a:endParaRPr lang="en-US" altLang="zh-CN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/>
              <a:t>Real-time processing: Large transaction volumes require low-latency analysis. </a:t>
            </a:r>
            <a:endParaRPr lang="en-US" altLang="zh-CN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/>
              <a:t>Model accuracy: Fraud patterns continuously change and may reduce prediction accuracy. </a:t>
            </a:r>
            <a:endParaRPr lang="en-US" altLang="zh-CN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/>
              <a:t>Integration &amp; authorization: Financial actions must follow bank and law-enforcement policies.</a:t>
            </a:r>
            <a:endParaRPr lang="en-US" altLang="zh-CN" sz="1400"/>
          </a:p>
        </p:txBody>
      </p:sp>
      <p:sp>
        <p:nvSpPr>
          <p:cNvPr id="13" name="Text Box 12"/>
          <p:cNvSpPr txBox="1"/>
          <p:nvPr/>
        </p:nvSpPr>
        <p:spPr>
          <a:xfrm>
            <a:off x="304800" y="4137025"/>
            <a:ext cx="7933055" cy="206184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lang="en-US" altLang="zh-CN" sz="1800" b="1"/>
              <a:t>Strategies to Overcome Challenges</a:t>
            </a:r>
            <a:endParaRPr lang="en-US" altLang="zh-CN" sz="1800" b="1"/>
          </a:p>
          <a:p>
            <a:pPr marL="285750" lvl="8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400"/>
              <a:t>Adaptive risk scoring: Use multiple signals instead of blocking based on a single transaction. </a:t>
            </a:r>
            <a:endParaRPr lang="en-US" altLang="zh-CN" sz="140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400"/>
              <a:t>Human-in-the-loop verification: Combine AI predictions with account-holder and authorized investigator confirmation. </a:t>
            </a:r>
            <a:endParaRPr lang="en-US" altLang="zh-CN" sz="140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400"/>
              <a:t>Privacy-first design: Use encryption, role-based access, audit logs, and minimal data exposure. </a:t>
            </a:r>
            <a:endParaRPr lang="en-US" altLang="zh-CN" sz="140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400"/>
              <a:t>Scalable processing: Use event-driven architecture, caching, and modular microservices. </a:t>
            </a:r>
            <a:endParaRPr lang="en-US" altLang="zh-CN" sz="140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400"/>
              <a:t>Continuous learning: Feed validated outcomes back into the models for regular evaluation and improvement.</a:t>
            </a:r>
            <a:endParaRPr lang="en-US" altLang="zh-CN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SMART</a:t>
            </a:r>
            <a:r>
              <a:rPr spc="5" dirty="0"/>
              <a:t> </a:t>
            </a:r>
            <a:r>
              <a:rPr dirty="0"/>
              <a:t>INDIA</a:t>
            </a:r>
            <a:r>
              <a:rPr spc="55" dirty="0"/>
              <a:t> </a:t>
            </a:r>
            <a:r>
              <a:rPr spc="-25" dirty="0"/>
              <a:t>HACKATHON-</a:t>
            </a:r>
            <a:r>
              <a:rPr spc="-20" dirty="0"/>
              <a:t>2026</a:t>
            </a:r>
            <a:endParaRPr spc="-2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  <p:sp>
        <p:nvSpPr>
          <p:cNvPr id="11" name="Text Box 10"/>
          <p:cNvSpPr txBox="1"/>
          <p:nvPr/>
        </p:nvSpPr>
        <p:spPr>
          <a:xfrm>
            <a:off x="381000" y="1219200"/>
            <a:ext cx="3438525" cy="484187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lang="en-US" altLang="en-GB" sz="2000" b="1"/>
              <a:t>Expected Outcomes</a:t>
            </a:r>
            <a:endParaRPr lang="en-US" altLang="en-GB" sz="2000" b="1"/>
          </a:p>
          <a:p>
            <a:pPr>
              <a:spcAft>
                <a:spcPct val="60000"/>
              </a:spcAft>
            </a:pPr>
            <a:r>
              <a:rPr lang="en-US" altLang="en-GB" sz="1400" b="1"/>
              <a:t>Earlier Detection:</a:t>
            </a:r>
            <a:r>
              <a:rPr lang="en-US" altLang="en-GB" sz="1400"/>
              <a:t> Identify suspicious money movement before it reaches the final cash-out stage.</a:t>
            </a:r>
            <a:endParaRPr lang="en-US" altLang="en-GB" sz="1400"/>
          </a:p>
          <a:p>
            <a:pPr>
              <a:spcAft>
                <a:spcPct val="60000"/>
              </a:spcAft>
            </a:pPr>
            <a:r>
              <a:rPr lang="en-US" altLang="en-GB" sz="1400" b="1"/>
              <a:t>Reduced Fraud Loss:</a:t>
            </a:r>
            <a:r>
              <a:rPr lang="en-US" altLang="en-GB" sz="1400"/>
              <a:t> Create a security window for verification and faster protective action.</a:t>
            </a:r>
            <a:endParaRPr lang="en-US" altLang="en-GB" sz="1400"/>
          </a:p>
          <a:p>
            <a:pPr>
              <a:spcAft>
                <a:spcPct val="60000"/>
              </a:spcAft>
            </a:pPr>
            <a:r>
              <a:rPr lang="en-US" altLang="en-GB" sz="1400" b="1"/>
              <a:t>Faster Investigation:</a:t>
            </a:r>
            <a:r>
              <a:rPr lang="en-US" altLang="en-GB" sz="1400"/>
              <a:t> Provide investigators with connected accounts, transaction paths, and risk insights in one view.</a:t>
            </a:r>
            <a:endParaRPr lang="en-US" altLang="en-GB" sz="1400"/>
          </a:p>
          <a:p>
            <a:pPr>
              <a:spcAft>
                <a:spcPct val="60000"/>
              </a:spcAft>
            </a:pPr>
            <a:r>
              <a:rPr lang="en-US" altLang="en-GB" sz="1400" b="1"/>
              <a:t>Proactive Cash-Out Prevention: </a:t>
            </a:r>
            <a:r>
              <a:rPr lang="en-US" altLang="en-GB" sz="1400"/>
              <a:t>Predict likely withdrawal locations and time windows to support timely intervention.</a:t>
            </a:r>
            <a:endParaRPr lang="en-US" altLang="en-GB" sz="1400"/>
          </a:p>
          <a:p>
            <a:pPr>
              <a:spcAft>
                <a:spcPct val="60000"/>
              </a:spcAft>
            </a:pPr>
            <a:r>
              <a:rPr lang="en-US" altLang="en-GB" sz="1400" b="1"/>
              <a:t>Smarter Response:</a:t>
            </a:r>
            <a:r>
              <a:rPr lang="en-US" altLang="en-GB" sz="1400"/>
              <a:t> Continuously learn from confirmed outcomes to improve future fraud detection and prediction.</a:t>
            </a:r>
            <a:endParaRPr lang="en-US" altLang="en-GB" sz="1400"/>
          </a:p>
        </p:txBody>
      </p:sp>
      <p:sp>
        <p:nvSpPr>
          <p:cNvPr id="13" name="Text Box 12"/>
          <p:cNvSpPr txBox="1"/>
          <p:nvPr/>
        </p:nvSpPr>
        <p:spPr>
          <a:xfrm>
            <a:off x="3641090" y="368935"/>
            <a:ext cx="49098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2400" b="1" spc="-60" dirty="0">
                <a:sym typeface="+mn-ea"/>
              </a:rPr>
              <a:t>IMPACT</a:t>
            </a:r>
            <a:r>
              <a:rPr sz="2400" b="1" spc="-235" dirty="0">
                <a:sym typeface="+mn-ea"/>
              </a:rPr>
              <a:t> </a:t>
            </a:r>
            <a:r>
              <a:rPr sz="2400" b="1" dirty="0">
                <a:sym typeface="+mn-ea"/>
              </a:rPr>
              <a:t>AND</a:t>
            </a:r>
            <a:r>
              <a:rPr sz="2400" b="1" spc="25" dirty="0">
                <a:sym typeface="+mn-ea"/>
              </a:rPr>
              <a:t> </a:t>
            </a:r>
            <a:r>
              <a:rPr sz="2400" b="1" spc="-10" dirty="0">
                <a:sym typeface="+mn-ea"/>
              </a:rPr>
              <a:t>BENEFITS</a:t>
            </a:r>
            <a:endParaRPr lang="en-IN" alt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object 7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275570" y="94615"/>
            <a:ext cx="1731645" cy="811530"/>
          </a:xfrm>
          <a:prstGeom prst="rect">
            <a:avLst/>
          </a:prstGeom>
        </p:spPr>
      </p:pic>
      <p:pic>
        <p:nvPicPr>
          <p:cNvPr id="18" name="object 3" descr="C:/Users/Muthu/Downloads/Team Zero.pngTeam Zero"/>
          <p:cNvPicPr/>
          <p:nvPr/>
        </p:nvPicPr>
        <p:blipFill>
          <a:blip r:embed="rId2"/>
          <a:srcRect l="4987" r="4987"/>
          <a:stretch>
            <a:fillRect/>
          </a:stretch>
        </p:blipFill>
        <p:spPr>
          <a:xfrm>
            <a:off x="457200" y="76200"/>
            <a:ext cx="1014095" cy="1035685"/>
          </a:xfrm>
          <a:prstGeom prst="rect">
            <a:avLst/>
          </a:prstGeom>
        </p:spPr>
      </p:pic>
      <p:pic>
        <p:nvPicPr>
          <p:cNvPr id="20" name="Picture 19" descr="ChatGPT Image Sep 9, 2026, 06_44_27 AM"/>
          <p:cNvPicPr>
            <a:picLocks noChangeAspect="1"/>
          </p:cNvPicPr>
          <p:nvPr/>
        </p:nvPicPr>
        <p:blipFill>
          <a:blip r:embed="rId3"/>
          <a:srcRect l="9569" r="9091"/>
          <a:stretch>
            <a:fillRect/>
          </a:stretch>
        </p:blipFill>
        <p:spPr>
          <a:xfrm>
            <a:off x="3823970" y="1063625"/>
            <a:ext cx="4024630" cy="5140960"/>
          </a:xfrm>
          <a:prstGeom prst="rect">
            <a:avLst/>
          </a:prstGeom>
        </p:spPr>
      </p:pic>
      <p:sp>
        <p:nvSpPr>
          <p:cNvPr id="21" name="Text Box 20"/>
          <p:cNvSpPr txBox="1"/>
          <p:nvPr/>
        </p:nvSpPr>
        <p:spPr>
          <a:xfrm>
            <a:off x="8075930" y="990600"/>
            <a:ext cx="4004945" cy="49136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Aft>
                <a:spcPct val="60000"/>
              </a:spcAft>
              <a:buNone/>
            </a:pPr>
            <a:r>
              <a:rPr lang="en-US" altLang="zh-CN" sz="2000" b="1"/>
              <a:t>Impact at a Glance</a:t>
            </a:r>
            <a:endParaRPr lang="en-US" altLang="zh-CN" sz="2000" b="1"/>
          </a:p>
          <a:p>
            <a:pPr marL="0" indent="0">
              <a:buNone/>
            </a:pPr>
            <a:r>
              <a:rPr lang="en-US" altLang="zh-CN" sz="1400" b="1"/>
              <a:t>Detect Before Cash-Out</a:t>
            </a:r>
            <a:endParaRPr lang="en-US" altLang="zh-CN" sz="1400" b="1"/>
          </a:p>
          <a:p>
            <a:pPr marL="0" indent="0">
              <a:buNone/>
            </a:pPr>
            <a:r>
              <a:rPr lang="en-US" altLang="zh-CN" sz="1400"/>
              <a:t>Identify suspicious multi-hop money movement while funds are still moving through the network.</a:t>
            </a:r>
            <a:endParaRPr lang="en-US" altLang="zh-CN" sz="1400"/>
          </a:p>
          <a:p>
            <a:pPr marL="0" indent="0">
              <a:buNone/>
            </a:pPr>
            <a:endParaRPr lang="en-US" altLang="zh-CN" sz="1400"/>
          </a:p>
          <a:p>
            <a:pPr marL="0" indent="0">
              <a:buNone/>
            </a:pPr>
            <a:r>
              <a:rPr lang="en-US" altLang="zh-CN" sz="1400" b="1"/>
              <a:t>Protect Before Loss</a:t>
            </a:r>
            <a:endParaRPr lang="en-US" altLang="zh-CN" sz="1400" b="1"/>
          </a:p>
          <a:p>
            <a:pPr marL="0" indent="0">
              <a:buNone/>
            </a:pPr>
            <a:r>
              <a:rPr lang="en-US" altLang="zh-CN" sz="1400"/>
              <a:t>Create a temporary security window for verification and authorized protective action.</a:t>
            </a:r>
            <a:endParaRPr lang="en-US" altLang="zh-CN" sz="1400"/>
          </a:p>
          <a:p>
            <a:pPr marL="0" indent="0">
              <a:buNone/>
            </a:pPr>
            <a:endParaRPr lang="en-US" altLang="zh-CN" sz="1400"/>
          </a:p>
          <a:p>
            <a:pPr marL="0" indent="0">
              <a:buNone/>
            </a:pPr>
            <a:r>
              <a:rPr lang="en-US" altLang="zh-CN" sz="1400" b="1"/>
              <a:t>Predict Where It May Happen</a:t>
            </a:r>
            <a:endParaRPr lang="en-US" altLang="zh-CN" sz="1400" b="1"/>
          </a:p>
          <a:p>
            <a:pPr marL="0" indent="0">
              <a:buNone/>
            </a:pPr>
            <a:r>
              <a:rPr lang="en-US" altLang="zh-CN" sz="1400"/>
              <a:t>Use transaction, time and location patterns to rank likely cash-out locations.</a:t>
            </a:r>
            <a:endParaRPr lang="en-US" altLang="zh-CN" sz="1400"/>
          </a:p>
          <a:p>
            <a:pPr marL="0" indent="0">
              <a:buNone/>
            </a:pPr>
            <a:endParaRPr lang="en-US" altLang="zh-CN" sz="1400"/>
          </a:p>
          <a:p>
            <a:pPr marL="0" indent="0">
              <a:buNone/>
            </a:pPr>
            <a:r>
              <a:rPr lang="en-US" altLang="zh-CN" sz="1400" b="1"/>
              <a:t>Act on Intelligence</a:t>
            </a:r>
            <a:endParaRPr lang="en-US" altLang="zh-CN" sz="1400"/>
          </a:p>
          <a:p>
            <a:pPr marL="0" indent="0">
              <a:buNone/>
            </a:pPr>
            <a:r>
              <a:rPr lang="en-US" altLang="zh-CN" sz="1400"/>
              <a:t>Give banks and authorized law-enforcement teams connected, actionable information instead of isolated alerts.</a:t>
            </a:r>
            <a:endParaRPr lang="en-US" altLang="zh-CN" sz="1400"/>
          </a:p>
          <a:p>
            <a:pPr marL="0" indent="0">
              <a:buNone/>
            </a:pPr>
            <a:endParaRPr lang="en-US" altLang="zh-CN" sz="1400"/>
          </a:p>
          <a:p>
            <a:pPr marL="0" indent="0">
              <a:buNone/>
            </a:pPr>
            <a:r>
              <a:rPr lang="en-US" altLang="zh-CN" sz="1400" b="1"/>
              <a:t>Learn &amp; Improve</a:t>
            </a:r>
            <a:endParaRPr lang="en-US" altLang="zh-CN" sz="1400"/>
          </a:p>
          <a:p>
            <a:pPr marL="0" indent="0">
              <a:buNone/>
            </a:pPr>
            <a:r>
              <a:rPr lang="en-US" altLang="zh-CN" sz="1400"/>
              <a:t>Use confirmed outcomes to continuously evaluate and improve detection and prediction.</a:t>
            </a:r>
            <a:endParaRPr lang="en-US" altLang="zh-CN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53175"/>
            <a:ext cx="12192000" cy="504825"/>
            <a:chOff x="0" y="6353175"/>
            <a:chExt cx="12192000" cy="50482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6372133"/>
              <a:ext cx="12187301" cy="48110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6353175"/>
              <a:ext cx="12192000" cy="504825"/>
            </a:xfrm>
            <a:custGeom>
              <a:avLst/>
              <a:gdLst/>
              <a:ahLst/>
              <a:cxnLst/>
              <a:rect l="l" t="t" r="r" b="b"/>
              <a:pathLst>
                <a:path w="12192000" h="504825">
                  <a:moveTo>
                    <a:pt x="12192000" y="0"/>
                  </a:moveTo>
                  <a:lnTo>
                    <a:pt x="0" y="0"/>
                  </a:lnTo>
                  <a:lnTo>
                    <a:pt x="0" y="504825"/>
                  </a:lnTo>
                  <a:lnTo>
                    <a:pt x="12192000" y="50482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SMART</a:t>
            </a:r>
            <a:r>
              <a:rPr spc="5" dirty="0"/>
              <a:t> </a:t>
            </a:r>
            <a:r>
              <a:rPr dirty="0"/>
              <a:t>INDIA</a:t>
            </a:r>
            <a:r>
              <a:rPr spc="55" dirty="0"/>
              <a:t> </a:t>
            </a:r>
            <a:r>
              <a:rPr spc="-25" dirty="0"/>
              <a:t>HACKATHON-</a:t>
            </a:r>
            <a:r>
              <a:rPr spc="-20" dirty="0"/>
              <a:t>2026</a:t>
            </a:r>
            <a:endParaRPr spc="-20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  <p:sp>
        <p:nvSpPr>
          <p:cNvPr id="15" name="Text Box 14"/>
          <p:cNvSpPr txBox="1"/>
          <p:nvPr/>
        </p:nvSpPr>
        <p:spPr>
          <a:xfrm>
            <a:off x="3641090" y="368935"/>
            <a:ext cx="49098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400" b="1" dirty="0">
                <a:sym typeface="+mn-ea"/>
              </a:rPr>
              <a:t>RESEARCH</a:t>
            </a:r>
            <a:r>
              <a:rPr sz="2400" b="1" spc="640" dirty="0">
                <a:sym typeface="+mn-ea"/>
              </a:rPr>
              <a:t> </a:t>
            </a:r>
            <a:r>
              <a:rPr sz="2400" b="1" dirty="0">
                <a:sym typeface="+mn-ea"/>
              </a:rPr>
              <a:t>AND</a:t>
            </a:r>
            <a:r>
              <a:rPr sz="2400" b="1" spc="-15" dirty="0">
                <a:sym typeface="+mn-ea"/>
              </a:rPr>
              <a:t> </a:t>
            </a:r>
            <a:r>
              <a:rPr sz="2400" b="1" spc="-10" dirty="0">
                <a:sym typeface="+mn-ea"/>
              </a:rPr>
              <a:t>REFERENCES</a:t>
            </a:r>
            <a:endParaRPr lang="en-IN" alt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75570" y="94615"/>
            <a:ext cx="1731645" cy="811530"/>
          </a:xfrm>
          <a:prstGeom prst="rect">
            <a:avLst/>
          </a:prstGeom>
        </p:spPr>
      </p:pic>
      <p:pic>
        <p:nvPicPr>
          <p:cNvPr id="16" name="object 3" descr="C:/Users/Muthu/Downloads/Team Zero.pngTeam Zero"/>
          <p:cNvPicPr/>
          <p:nvPr/>
        </p:nvPicPr>
        <p:blipFill>
          <a:blip r:embed="rId3"/>
          <a:srcRect l="4987" r="4987"/>
          <a:stretch>
            <a:fillRect/>
          </a:stretch>
        </p:blipFill>
        <p:spPr>
          <a:xfrm>
            <a:off x="457200" y="76200"/>
            <a:ext cx="1014095" cy="1035685"/>
          </a:xfrm>
          <a:prstGeom prst="rect">
            <a:avLst/>
          </a:prstGeom>
        </p:spPr>
      </p:pic>
      <p:sp>
        <p:nvSpPr>
          <p:cNvPr id="13" name="Text Box 12"/>
          <p:cNvSpPr txBox="1"/>
          <p:nvPr/>
        </p:nvSpPr>
        <p:spPr>
          <a:xfrm>
            <a:off x="304800" y="1219200"/>
            <a:ext cx="5563235" cy="507936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lang="en-US" altLang="zh-CN" sz="1800" b="1"/>
              <a:t>1. SIH 2026 — Official Problem Statement SIH26184</a:t>
            </a:r>
            <a:endParaRPr lang="en-US" altLang="zh-CN" sz="1800" b="1"/>
          </a:p>
          <a:p>
            <a:r>
              <a:rPr lang="en-US" altLang="zh-CN" sz="1400"/>
              <a:t>Ministry of Home Affairs / I4C</a:t>
            </a:r>
            <a:endParaRPr lang="en-US" altLang="zh-CN" sz="1400"/>
          </a:p>
          <a:p>
            <a:r>
              <a:rPr lang="en-US" altLang="zh-CN" sz="1400"/>
              <a:t>Used to understand the core requirement: proactive cybercrime intervention, predictive cash-withdrawal intelligence, GIS risk visualization, and real-time alerts. </a:t>
            </a:r>
            <a:endParaRPr lang="en-US" altLang="zh-CN" sz="1400"/>
          </a:p>
          <a:p>
            <a:endParaRPr lang="en-US" altLang="zh-CN" sz="1800"/>
          </a:p>
          <a:p>
            <a:pPr>
              <a:spcAft>
                <a:spcPct val="60000"/>
              </a:spcAft>
            </a:pPr>
            <a:r>
              <a:rPr lang="en-US" altLang="zh-CN" sz="1800" b="1"/>
              <a:t>2. National Cyber Crime Reporting Portal (NCRP)</a:t>
            </a:r>
            <a:endParaRPr lang="en-US" altLang="zh-CN" sz="1800" b="1"/>
          </a:p>
          <a:p>
            <a:r>
              <a:rPr lang="en-US" altLang="zh-CN" sz="1400"/>
              <a:t>Government of India — cybercrime.gov.in</a:t>
            </a:r>
            <a:endParaRPr lang="en-US" altLang="zh-CN" sz="1400"/>
          </a:p>
          <a:p>
            <a:r>
              <a:rPr lang="en-US" altLang="zh-CN" sz="1400"/>
              <a:t>Studied the existing cybercrime reporting workflow, financial-fraud reporting process, suspect reporting, and citizen-facing mechanisms. </a:t>
            </a:r>
            <a:endParaRPr lang="en-US" altLang="zh-CN" sz="1400"/>
          </a:p>
          <a:p>
            <a:r>
              <a:rPr lang="en-US" altLang="zh-CN" sz="1400">
                <a:hlinkClick r:id="rId4"/>
              </a:rPr>
              <a:t>National Cyber Crime Reporting Portal</a:t>
            </a:r>
            <a:endParaRPr lang="en-US" altLang="zh-CN" sz="1400">
              <a:hlinkClick r:id="rId4"/>
            </a:endParaRPr>
          </a:p>
          <a:p>
            <a:endParaRPr lang="en-US" altLang="zh-CN" sz="1600">
              <a:hlinkClick r:id="rId4"/>
            </a:endParaRPr>
          </a:p>
          <a:p>
            <a:pPr>
              <a:spcAft>
                <a:spcPct val="60000"/>
              </a:spcAft>
            </a:pPr>
            <a:r>
              <a:rPr lang="en-US" altLang="zh-CN" sz="1800" b="1"/>
              <a:t>3. Indian Cyber Crime Coordination Centre (I4C)</a:t>
            </a:r>
            <a:endParaRPr lang="en-US" altLang="zh-CN" sz="1800" b="1"/>
          </a:p>
          <a:p>
            <a:r>
              <a:rPr lang="en-US" altLang="zh-CN" sz="1400"/>
              <a:t>Ministry of Home Affairs</a:t>
            </a:r>
            <a:endParaRPr lang="en-US" altLang="zh-CN" sz="1400"/>
          </a:p>
          <a:p>
            <a:r>
              <a:rPr lang="en-US" altLang="zh-CN" sz="1400"/>
              <a:t>Studied I4C's role in cybercrime coordination, analytics, research, and collaboration between law-enforcement agencies and other stakeholders. </a:t>
            </a:r>
            <a:endParaRPr lang="en-US" altLang="zh-CN" sz="1400"/>
          </a:p>
          <a:p>
            <a:r>
              <a:rPr lang="en-US" altLang="zh-CN" sz="1400">
                <a:hlinkClick r:id="rId5"/>
              </a:rPr>
              <a:t>MHA — I4C Overview</a:t>
            </a:r>
            <a:endParaRPr lang="en-US" altLang="zh-CN" sz="1400">
              <a:hlinkClick r:id="rId5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6172200" y="990600"/>
            <a:ext cx="5613400" cy="50177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en-US" altLang="zh-CN" sz="1600">
              <a:hlinkClick r:id="rId5"/>
            </a:endParaRPr>
          </a:p>
          <a:p>
            <a:pPr>
              <a:spcAft>
                <a:spcPct val="60000"/>
              </a:spcAft>
            </a:pPr>
            <a:r>
              <a:rPr lang="en-US" altLang="zh-CN" sz="1800" b="1">
                <a:sym typeface="+mn-ea"/>
              </a:rPr>
              <a:t>4. CFCFRMS &amp; Cyber Fraud Mitigation</a:t>
            </a:r>
            <a:endParaRPr lang="en-US" altLang="zh-CN" sz="1800" b="1"/>
          </a:p>
          <a:p>
            <a:r>
              <a:rPr lang="en-US" altLang="zh-CN" sz="1400">
                <a:sym typeface="+mn-ea"/>
              </a:rPr>
              <a:t>I4C / MHA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Studied the existing financial-fraud response mechanism, including rapid reporting, fund-blocking workflows, bank/FI coordination, and the Cyber Fraud Mitigation Centre. </a:t>
            </a:r>
            <a:endParaRPr lang="en-US" altLang="zh-CN" sz="1400">
              <a:sym typeface="+mn-ea"/>
            </a:endParaRPr>
          </a:p>
          <a:p>
            <a:endParaRPr lang="en-US" altLang="zh-CN" sz="1600"/>
          </a:p>
          <a:p>
            <a:pPr>
              <a:spcAft>
                <a:spcPct val="60000"/>
              </a:spcAft>
            </a:pPr>
            <a:r>
              <a:rPr lang="en-US" altLang="zh-CN" sz="1800" b="1">
                <a:sym typeface="+mn-ea"/>
              </a:rPr>
              <a:t>5. Graph-Based Financial Fraud Detection</a:t>
            </a:r>
            <a:endParaRPr lang="en-US" altLang="zh-CN" sz="1800" b="1"/>
          </a:p>
          <a:p>
            <a:r>
              <a:rPr lang="en-US" altLang="zh-CN" sz="1400">
                <a:sym typeface="+mn-ea"/>
              </a:rPr>
              <a:t>Research literature on Graph / GNN-based fraud detection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Research shows that financial fraud can be analyzed as a relational graph, allowing detection of suspicious entities, connections, and network-level patterns rather than analyzing transactions independently. </a:t>
            </a:r>
            <a:endParaRPr lang="en-US" altLang="zh-CN" sz="1400">
              <a:sym typeface="+mn-ea"/>
            </a:endParaRPr>
          </a:p>
          <a:p>
            <a:endParaRPr lang="en-US" altLang="zh-CN" sz="1600"/>
          </a:p>
          <a:p>
            <a:pPr>
              <a:spcAft>
                <a:spcPct val="60000"/>
              </a:spcAft>
            </a:pPr>
            <a:r>
              <a:rPr lang="en-US" altLang="zh-CN" sz="1800" b="1">
                <a:sym typeface="+mn-ea"/>
              </a:rPr>
              <a:t>6. XGBoost — Scalable Machine Learning</a:t>
            </a:r>
            <a:endParaRPr lang="en-US" altLang="zh-CN" sz="1800" b="1"/>
          </a:p>
          <a:p>
            <a:r>
              <a:rPr lang="en-US" altLang="zh-CN" sz="1400">
                <a:sym typeface="+mn-ea"/>
              </a:rPr>
              <a:t>Chen &amp; Guestrin, KDD 2016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Studied XGBoost as a scalable tree-boosting approach suitable for structured/tabular data and large-scale machine-learning pipelines. </a:t>
            </a:r>
            <a:endParaRPr lang="en-US" altLang="zh-CN" sz="1400"/>
          </a:p>
          <a:p>
            <a:r>
              <a:rPr lang="en-US" altLang="zh-CN" sz="1400">
                <a:sym typeface="+mn-ea"/>
                <a:hlinkClick r:id="rId6"/>
              </a:rPr>
              <a:t>XGBoost Research Paper</a:t>
            </a:r>
            <a:endParaRPr lang="en-US" altLang="zh-CN" sz="1400">
              <a:sym typeface="+mn-ea"/>
              <a:hlinkClick r:id="rId6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6725</Words>
  <Application>WPS Presentation</Application>
  <PresentationFormat>On-screen Show (4:3)</PresentationFormat>
  <Paragraphs>147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SimSun</vt:lpstr>
      <vt:lpstr>Wingdings</vt:lpstr>
      <vt:lpstr>Times New Roman</vt:lpstr>
      <vt:lpstr>Arial</vt:lpstr>
      <vt:lpstr>Calibri</vt:lpstr>
      <vt:lpstr>Wingdings</vt:lpstr>
      <vt:lpstr>Microsoft YaHei</vt:lpstr>
      <vt:lpstr>Arial Unicode MS</vt:lpstr>
      <vt:lpstr>Office Theme</vt:lpstr>
      <vt:lpstr>SMART INDIA HACKATHON 2026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INDIA HACKATHON 2026</dc:title>
  <dc:creator/>
  <cp:lastModifiedBy>Muthu Kumaran</cp:lastModifiedBy>
  <cp:revision>2</cp:revision>
  <dcterms:created xsi:type="dcterms:W3CDTF">2026-09-09T01:34:00Z</dcterms:created>
  <dcterms:modified xsi:type="dcterms:W3CDTF">2026-09-11T00:19:40Z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2026-09-06T11:00:00Z</vt:filetime>
  </property>
  <property fmtid="{D5CDD505-2E9C-101B-9397-08002B2CF9AE}" pid="4" name="LastSaved">
    <vt:filetime>2026-09-08T11:00:00Z</vt:filetime>
  </property>
  <property fmtid="{D5CDD505-2E9C-101B-9397-08002B2CF9AE}" pid="5" name="ICV">
    <vt:lpwstr>4405F870CE1C4593B8950D53FE6BF384_13</vt:lpwstr>
  </property>
  <property fmtid="{D5CDD505-2E9C-101B-9397-08002B2CF9AE}" pid="6" name="KSOProductBuildVer">
    <vt:lpwstr>2057-12.2.0.23206</vt:lpwstr>
  </property>
</Properties>
</file>